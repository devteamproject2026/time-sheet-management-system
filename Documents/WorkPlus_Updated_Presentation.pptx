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1" r:id="rId2"/>
    <p:sldId id="266" r:id="rId3"/>
    <p:sldId id="259" r:id="rId4"/>
    <p:sldId id="260" r:id="rId5"/>
    <p:sldId id="261" r:id="rId6"/>
    <p:sldId id="262" r:id="rId7"/>
    <p:sldId id="273" r:id="rId8"/>
    <p:sldId id="263" r:id="rId9"/>
    <p:sldId id="269" r:id="rId10"/>
    <p:sldId id="265" r:id="rId11"/>
    <p:sldId id="268" r:id="rId12"/>
    <p:sldId id="274" r:id="rId13"/>
    <p:sldId id="264" r:id="rId14"/>
    <p:sldId id="272"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07AC"/>
    <a:srgbClr val="FBF8B7"/>
    <a:srgbClr val="FFE89F"/>
    <a:srgbClr val="F4E3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561319-8802-4F79-97B7-7563B1C2FD45}" v="37" dt="2026-02-03T11:10:08.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09" autoAdjust="0"/>
  </p:normalViewPr>
  <p:slideViewPr>
    <p:cSldViewPr>
      <p:cViewPr varScale="1">
        <p:scale>
          <a:sx n="80" d="100"/>
          <a:sy n="80" d="100"/>
        </p:scale>
        <p:origin x="1531" y="6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4C117C-FEDF-4384-8ACA-D674D5F8FEE4}" type="datetimeFigureOut">
              <a:rPr lang="en-IN" smtClean="0"/>
              <a:t>08-08-2026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A5A72-AB4C-4ED8-AFD0-BF8566830F9A}" type="slidenum">
              <a:rPr lang="en-IN" smtClean="0"/>
              <a:t>‹#›</a:t>
            </a:fld>
            <a:endParaRPr lang="en-IN"/>
          </a:p>
        </p:txBody>
      </p:sp>
    </p:spTree>
    <p:extLst>
      <p:ext uri="{BB962C8B-B14F-4D97-AF65-F5344CB8AC3E}">
        <p14:creationId xmlns:p14="http://schemas.microsoft.com/office/powerpoint/2010/main" val="3210890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0B07748-038E-4B07-9F87-358AEECC774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315001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0B07748-038E-4B07-9F87-358AEECC774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4187826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B07748-038E-4B07-9F87-358AEECC774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371652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0B07748-038E-4B07-9F87-358AEECC774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409719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0B07748-038E-4B07-9F87-358AEECC774A}" type="datetimeFigureOut">
              <a:rPr lang="en-IN" smtClean="0"/>
              <a:t>08-08-2026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1488023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0B07748-038E-4B07-9F87-358AEECC774A}" type="datetimeFigureOut">
              <a:rPr lang="en-IN" smtClean="0"/>
              <a:t>08-08-2026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2435475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B07748-038E-4B07-9F87-358AEECC774A}" type="datetimeFigureOut">
              <a:rPr lang="en-IN" smtClean="0"/>
              <a:t>08-08-2026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2196140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B07748-038E-4B07-9F87-358AEECC774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858348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B07748-038E-4B07-9F87-358AEECC774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3755883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0B07748-038E-4B07-9F87-358AEECC774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2983445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0B07748-038E-4B07-9F87-358AEECC774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CCF652-62EF-4A0E-8996-BAE5423AFE93}" type="slidenum">
              <a:rPr lang="en-IN" smtClean="0"/>
              <a:t>‹#›</a:t>
            </a:fld>
            <a:endParaRPr lang="en-IN"/>
          </a:p>
        </p:txBody>
      </p:sp>
    </p:spTree>
    <p:extLst>
      <p:ext uri="{BB962C8B-B14F-4D97-AF65-F5344CB8AC3E}">
        <p14:creationId xmlns:p14="http://schemas.microsoft.com/office/powerpoint/2010/main" val="332330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B07748-038E-4B07-9F87-358AEECC774A}" type="datetimeFigureOut">
              <a:rPr lang="en-IN" smtClean="0"/>
              <a:t>08-08-2026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CCF652-62EF-4A0E-8996-BAE5423AFE93}" type="slidenum">
              <a:rPr lang="en-IN" smtClean="0"/>
              <a:t>‹#›</a:t>
            </a:fld>
            <a:endParaRPr lang="en-IN"/>
          </a:p>
        </p:txBody>
      </p:sp>
    </p:spTree>
    <p:extLst>
      <p:ext uri="{BB962C8B-B14F-4D97-AF65-F5344CB8AC3E}">
        <p14:creationId xmlns:p14="http://schemas.microsoft.com/office/powerpoint/2010/main" val="3250787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92CCF-BFBE-B123-21D5-D1AB5BD6FCC1}"/>
              </a:ext>
            </a:extLst>
          </p:cNvPr>
          <p:cNvSpPr>
            <a:spLocks noGrp="1"/>
          </p:cNvSpPr>
          <p:nvPr>
            <p:ph type="title"/>
          </p:nvPr>
        </p:nvSpPr>
        <p:spPr>
          <a:xfrm>
            <a:off x="0" y="2286000"/>
            <a:ext cx="9099946" cy="1143000"/>
          </a:xfrm>
        </p:spPr>
        <p:txBody>
          <a:bodyPr>
            <a:normAutofit/>
          </a:bodyPr>
          <a:lstStyle/>
          <a:p>
            <a:r>
              <a:rPr lang="en-IN" sz="3000">
                <a:latin typeface="Arial" panose="020B0604020202020204" pitchFamily="34" charset="0"/>
              </a:rPr>
              <a:t>Time Sheet Management System</a:t>
            </a:r>
            <a:endParaRPr lang="en-IN" sz="3000" dirty="0">
              <a:latin typeface="Arial" panose="020B0604020202020204" pitchFamily="34" charset="0"/>
            </a:endParaRPr>
          </a:p>
        </p:txBody>
      </p:sp>
      <p:sp>
        <p:nvSpPr>
          <p:cNvPr id="3" name="Content Placeholder 2">
            <a:extLst>
              <a:ext uri="{FF2B5EF4-FFF2-40B4-BE49-F238E27FC236}">
                <a16:creationId xmlns:a16="http://schemas.microsoft.com/office/drawing/2014/main" id="{DCE1581C-1D10-F134-BD69-73D72D1F316B}"/>
              </a:ext>
            </a:extLst>
          </p:cNvPr>
          <p:cNvSpPr>
            <a:spLocks noGrp="1"/>
          </p:cNvSpPr>
          <p:nvPr>
            <p:ph idx="1"/>
          </p:nvPr>
        </p:nvSpPr>
        <p:spPr>
          <a:xfrm>
            <a:off x="457200" y="4365104"/>
            <a:ext cx="3970784" cy="1761059"/>
          </a:xfrm>
        </p:spPr>
        <p:txBody>
          <a:bodyPr>
            <a:normAutofit lnSpcReduction="10000"/>
          </a:bodyPr>
          <a:lstStyle/>
          <a:p>
            <a:pPr marL="0" indent="0">
              <a:buNone/>
            </a:pPr>
            <a:r>
              <a:rPr lang="en-US" sz="2000" b="1" dirty="0">
                <a:latin typeface="Arial" panose="020B0604020202020204" pitchFamily="34" charset="0"/>
              </a:rPr>
              <a:t>Presented by:</a:t>
            </a:r>
          </a:p>
          <a:p>
            <a:pPr marL="0" indent="0">
              <a:buNone/>
            </a:pPr>
            <a:r>
              <a:rPr lang="en-US" sz="2000" b="1" dirty="0">
                <a:latin typeface="Arial" panose="020B0604020202020204" pitchFamily="34" charset="0"/>
              </a:rPr>
              <a:t>Juned Shikalgar</a:t>
            </a:r>
          </a:p>
          <a:p>
            <a:pPr marL="0" indent="0">
              <a:buNone/>
            </a:pPr>
            <a:r>
              <a:rPr lang="en-US" sz="2000" b="1" dirty="0">
                <a:latin typeface="Arial" panose="020B0604020202020204" pitchFamily="34" charset="0"/>
              </a:rPr>
              <a:t>Vivek Moranis</a:t>
            </a:r>
          </a:p>
          <a:p>
            <a:pPr marL="0" indent="0">
              <a:buNone/>
            </a:pPr>
            <a:r>
              <a:rPr lang="en-US" sz="2000" b="1" dirty="0" err="1">
                <a:latin typeface="Arial" panose="020B0604020202020204" pitchFamily="34" charset="0"/>
              </a:rPr>
              <a:t>Revet</a:t>
            </a:r>
            <a:r>
              <a:rPr lang="en-US" sz="2000" b="1" dirty="0">
                <a:latin typeface="Arial" panose="020B0604020202020204" pitchFamily="34" charset="0"/>
              </a:rPr>
              <a:t> Chaudhari</a:t>
            </a:r>
          </a:p>
          <a:p>
            <a:pPr marL="0" indent="0">
              <a:buNone/>
            </a:pPr>
            <a:r>
              <a:rPr lang="en-US" sz="2000" b="1" dirty="0">
                <a:latin typeface="Arial" panose="020B0604020202020204" pitchFamily="34" charset="0"/>
              </a:rPr>
              <a:t>Ganesh </a:t>
            </a:r>
            <a:r>
              <a:rPr lang="en-US" sz="2000" b="1" dirty="0" err="1">
                <a:latin typeface="Arial" panose="020B0604020202020204" pitchFamily="34" charset="0"/>
              </a:rPr>
              <a:t>Parhad</a:t>
            </a:r>
            <a:endParaRPr lang="en-IN" sz="2000" dirty="0">
              <a:latin typeface="Arial" panose="020B0604020202020204" pitchFamily="34" charset="0"/>
            </a:endParaRPr>
          </a:p>
        </p:txBody>
      </p:sp>
      <p:pic>
        <p:nvPicPr>
          <p:cNvPr id="4" name="Picture 3">
            <a:extLst>
              <a:ext uri="{FF2B5EF4-FFF2-40B4-BE49-F238E27FC236}">
                <a16:creationId xmlns:a16="http://schemas.microsoft.com/office/drawing/2014/main" id="{BED10CEE-49EC-ED5F-E9A2-543FE7CFCE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0265" y="133348"/>
            <a:ext cx="976685" cy="888491"/>
          </a:xfrm>
          <a:prstGeom prst="rect">
            <a:avLst/>
          </a:prstGeom>
        </p:spPr>
      </p:pic>
      <p:sp>
        <p:nvSpPr>
          <p:cNvPr id="6" name="TextBox 5">
            <a:extLst>
              <a:ext uri="{FF2B5EF4-FFF2-40B4-BE49-F238E27FC236}">
                <a16:creationId xmlns:a16="http://schemas.microsoft.com/office/drawing/2014/main" id="{071CF33A-2FA1-270D-DDCA-A62AF839ED73}"/>
              </a:ext>
            </a:extLst>
          </p:cNvPr>
          <p:cNvSpPr txBox="1"/>
          <p:nvPr/>
        </p:nvSpPr>
        <p:spPr>
          <a:xfrm>
            <a:off x="-20149" y="1443226"/>
            <a:ext cx="9099945" cy="707886"/>
          </a:xfrm>
          <a:prstGeom prst="rect">
            <a:avLst/>
          </a:prstGeom>
          <a:noFill/>
        </p:spPr>
        <p:txBody>
          <a:bodyPr wrap="square" rtlCol="0">
            <a:spAutoFit/>
          </a:bodyPr>
          <a:lstStyle/>
          <a:p>
            <a:pPr algn="ctr"/>
            <a:r>
              <a:rPr lang="en-IN" sz="4000" b="1">
                <a:latin typeface="Arial" panose="020B0604020202020204" pitchFamily="34" charset="0"/>
              </a:rPr>
              <a:t>WorkPlus</a:t>
            </a:r>
            <a:endParaRPr lang="en-IN" sz="4000" dirty="0">
              <a:latin typeface="Arial" panose="020B0604020202020204" pitchFamily="34" charset="0"/>
            </a:endParaRPr>
          </a:p>
        </p:txBody>
      </p:sp>
      <p:sp>
        <p:nvSpPr>
          <p:cNvPr id="7" name="TextBox 6">
            <a:extLst>
              <a:ext uri="{FF2B5EF4-FFF2-40B4-BE49-F238E27FC236}">
                <a16:creationId xmlns:a16="http://schemas.microsoft.com/office/drawing/2014/main" id="{D6337157-D0E4-CC04-F9F4-0CBB9F97220A}"/>
              </a:ext>
            </a:extLst>
          </p:cNvPr>
          <p:cNvSpPr txBox="1"/>
          <p:nvPr/>
        </p:nvSpPr>
        <p:spPr>
          <a:xfrm>
            <a:off x="5652120" y="4365104"/>
            <a:ext cx="3245445" cy="646331"/>
          </a:xfrm>
          <a:prstGeom prst="rect">
            <a:avLst/>
          </a:prstGeom>
          <a:noFill/>
        </p:spPr>
        <p:txBody>
          <a:bodyPr wrap="square" rtlCol="0">
            <a:spAutoFit/>
          </a:bodyPr>
          <a:lstStyle/>
          <a:p>
            <a:r>
              <a:rPr lang="en-US" b="1" dirty="0">
                <a:latin typeface="Arial" panose="020B0604020202020204" pitchFamily="34" charset="0"/>
              </a:rPr>
              <a:t>Project Mentor:</a:t>
            </a:r>
          </a:p>
          <a:p>
            <a:r>
              <a:rPr lang="en-US" b="1" dirty="0">
                <a:latin typeface="Arial" panose="020B0604020202020204" pitchFamily="34" charset="0"/>
              </a:rPr>
              <a:t>Pratik Kamble</a:t>
            </a:r>
            <a:endParaRPr lang="en-IN" dirty="0">
              <a:latin typeface="Arial" panose="020B0604020202020204" pitchFamily="34" charset="0"/>
            </a:endParaRPr>
          </a:p>
        </p:txBody>
      </p:sp>
    </p:spTree>
    <p:extLst>
      <p:ext uri="{BB962C8B-B14F-4D97-AF65-F5344CB8AC3E}">
        <p14:creationId xmlns:p14="http://schemas.microsoft.com/office/powerpoint/2010/main" val="38250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332656"/>
            <a:ext cx="4418774" cy="707886"/>
          </a:xfrm>
          <a:prstGeom prst="rect">
            <a:avLst/>
          </a:prstGeom>
          <a:noFill/>
        </p:spPr>
        <p:txBody>
          <a:bodyPr wrap="none" rtlCol="0">
            <a:spAutoFit/>
          </a:bodyPr>
          <a:lstStyle/>
          <a:p>
            <a:pPr marL="457200" indent="-457200">
              <a:buFont typeface="Wingdings" panose="05000000000000000000" pitchFamily="2" charset="2"/>
              <a:buChar char="q"/>
            </a:pPr>
            <a:r>
              <a:rPr lang="en-US" sz="4000" b="1" dirty="0"/>
              <a:t> Project Overview</a:t>
            </a:r>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
        <p:nvSpPr>
          <p:cNvPr id="11" name="TextBox 10">
            <a:extLst>
              <a:ext uri="{FF2B5EF4-FFF2-40B4-BE49-F238E27FC236}">
                <a16:creationId xmlns:a16="http://schemas.microsoft.com/office/drawing/2014/main" id="{66C8C0BD-9C0C-DD68-6D50-931A20B187E8}"/>
              </a:ext>
            </a:extLst>
          </p:cNvPr>
          <p:cNvSpPr txBox="1"/>
          <p:nvPr/>
        </p:nvSpPr>
        <p:spPr>
          <a:xfrm>
            <a:off x="889874" y="1340768"/>
            <a:ext cx="7848872" cy="4600042"/>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2200">
                <a:latin typeface="Arial" panose="020B0604020202020204" pitchFamily="34" charset="0"/>
              </a:rPr>
              <a:t>Web platform for managing projects, tasks and employee timesheets
Built using Spring Boot microservices architecture
Secure access using JWT in an HttpOnly cookie
Centralized requests through API Gateway and Eureka Discovery
Role-based access for Admin, HR Head, Manager and Employee</a:t>
            </a:r>
          </a:p>
          <a:p>
            <a:pPr marL="457200" indent="-457200">
              <a:lnSpc>
                <a:spcPct val="150000"/>
              </a:lnSpc>
              <a:buFont typeface="Arial" panose="020B0604020202020204" pitchFamily="34" charset="0"/>
              <a:buChar char="•"/>
            </a:pPr>
            <a:r>
              <a:rPr lang="en-US" sz="2200">
                <a:latin typeface="Arial" panose="020B0604020202020204" pitchFamily="34" charset="0"/>
              </a:rPr>
              <a:t>Gemini-powered Employee AI Assistant</a:t>
            </a:r>
            <a:endParaRPr lang="en-US" sz="2200" dirty="0">
              <a:latin typeface="Arial" panose="020B0604020202020204" pitchFamily="34" charset="0"/>
            </a:endParaRPr>
          </a:p>
        </p:txBody>
      </p:sp>
    </p:spTree>
    <p:extLst>
      <p:ext uri="{BB962C8B-B14F-4D97-AF65-F5344CB8AC3E}">
        <p14:creationId xmlns:p14="http://schemas.microsoft.com/office/powerpoint/2010/main" val="953650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1628800"/>
            <a:ext cx="7920880" cy="4497363"/>
          </a:xfrm>
        </p:spPr>
        <p:txBody>
          <a:bodyPr>
            <a:normAutofit/>
          </a:bodyPr>
          <a:lstStyle/>
          <a:p>
            <a:r>
              <a:rPr lang="en-US" sz="1900">
                <a:latin typeface="Arial" panose="020B0604020202020204" pitchFamily="34" charset="0"/>
              </a:rPr>
              <a:t>Admin - Approves HR registration and monitors Clients and Projects
HR Head - Creates users, Clients and Projects and performs staffing
Manager - Creates Tasks, manages the team and reviews Timesheets
Employee - Updates work, submits Timesheets, raises Complaints and uses the AI Assistant</a:t>
            </a:r>
            <a:endParaRPr sz="1900" dirty="0">
              <a:latin typeface="Arial" panose="020B0604020202020204" pitchFamily="34" charset="0"/>
            </a:endParaRPr>
          </a:p>
        </p:txBody>
      </p:sp>
      <p:sp>
        <p:nvSpPr>
          <p:cNvPr id="5" name="TextBox 4">
            <a:extLst>
              <a:ext uri="{FF2B5EF4-FFF2-40B4-BE49-F238E27FC236}">
                <a16:creationId xmlns:a16="http://schemas.microsoft.com/office/drawing/2014/main" id="{22C5DF81-F0FC-BCAA-E9F8-7935F25B81B3}"/>
              </a:ext>
            </a:extLst>
          </p:cNvPr>
          <p:cNvSpPr txBox="1"/>
          <p:nvPr/>
        </p:nvSpPr>
        <p:spPr>
          <a:xfrm>
            <a:off x="611560" y="661472"/>
            <a:ext cx="4572000" cy="707886"/>
          </a:xfrm>
          <a:prstGeom prst="rect">
            <a:avLst/>
          </a:prstGeom>
          <a:noFill/>
        </p:spPr>
        <p:txBody>
          <a:bodyPr wrap="square">
            <a:spAutoFit/>
          </a:bodyPr>
          <a:lstStyle/>
          <a:p>
            <a:pPr marL="457200" indent="-457200">
              <a:buFont typeface="Wingdings" panose="05000000000000000000" pitchFamily="2" charset="2"/>
              <a:buChar char="q"/>
            </a:pPr>
            <a:r>
              <a:rPr lang="en-IN" sz="4000" b="1" dirty="0"/>
              <a:t> User Roles</a:t>
            </a:r>
            <a:endParaRPr lang="en-US" sz="4000" b="1" dirty="0"/>
          </a:p>
        </p:txBody>
      </p:sp>
      <p:pic>
        <p:nvPicPr>
          <p:cNvPr id="6" name="Picture 5">
            <a:extLst>
              <a:ext uri="{FF2B5EF4-FFF2-40B4-BE49-F238E27FC236}">
                <a16:creationId xmlns:a16="http://schemas.microsoft.com/office/drawing/2014/main" id="{594C4B53-0490-8AC3-882C-A353754718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608" y="1752038"/>
            <a:ext cx="7397689" cy="4425355"/>
          </a:xfrm>
        </p:spPr>
        <p:txBody>
          <a:bodyPr>
            <a:normAutofit/>
          </a:bodyPr>
          <a:lstStyle/>
          <a:p>
            <a:r>
              <a:rPr lang="en-US" sz="2200">
                <a:latin typeface="Arial" panose="020B0604020202020204" pitchFamily="34" charset="0"/>
              </a:rPr>
              <a:t>Login and logout securely
Approve or reject HR Head registration
View Clients and Projects
View HR Head accounts
Monitor protected system access</a:t>
            </a:r>
            <a:endParaRPr sz="2200" dirty="0">
              <a:latin typeface="Arial" panose="020B0604020202020204" pitchFamily="34" charset="0"/>
            </a:endParaRPr>
          </a:p>
        </p:txBody>
      </p:sp>
      <p:sp>
        <p:nvSpPr>
          <p:cNvPr id="6" name="TextBox 5">
            <a:extLst>
              <a:ext uri="{FF2B5EF4-FFF2-40B4-BE49-F238E27FC236}">
                <a16:creationId xmlns:a16="http://schemas.microsoft.com/office/drawing/2014/main" id="{CF252079-9C71-9FA1-8A9B-D79A7132EA9E}"/>
              </a:ext>
            </a:extLst>
          </p:cNvPr>
          <p:cNvSpPr txBox="1"/>
          <p:nvPr/>
        </p:nvSpPr>
        <p:spPr>
          <a:xfrm>
            <a:off x="611560" y="661472"/>
            <a:ext cx="6912768" cy="538609"/>
          </a:xfrm>
          <a:prstGeom prst="rect">
            <a:avLst/>
          </a:prstGeom>
          <a:noFill/>
        </p:spPr>
        <p:txBody>
          <a:bodyPr wrap="square">
            <a:spAutoFit/>
          </a:bodyPr>
          <a:lstStyle/>
          <a:p>
            <a:pPr marL="457200" indent="-457200">
              <a:buSzPts val="4000"/>
              <a:buFont typeface="Wingdings" panose="05000000000000000000" pitchFamily="2" charset="2"/>
              <a:buChar char="q"/>
            </a:pPr>
            <a:r>
              <a:rPr lang="en-IN" sz="2900" b="1">
                <a:latin typeface="Arial" panose="020B0604020202020204" pitchFamily="34" charset="0"/>
              </a:rPr>
              <a:t> Admin Use Cases</a:t>
            </a:r>
            <a:endParaRPr lang="en-IN" sz="2900" b="1" dirty="0">
              <a:latin typeface="Arial" panose="020B0604020202020204" pitchFamily="34" charset="0"/>
            </a:endParaRPr>
          </a:p>
        </p:txBody>
      </p:sp>
      <p:pic>
        <p:nvPicPr>
          <p:cNvPr id="7" name="Picture 6">
            <a:extLst>
              <a:ext uri="{FF2B5EF4-FFF2-40B4-BE49-F238E27FC236}">
                <a16:creationId xmlns:a16="http://schemas.microsoft.com/office/drawing/2014/main" id="{D805E018-F00B-F0E9-0C82-F08C83E21A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5D43384-CED4-B320-CBA5-32F41A104A23}"/>
              </a:ext>
            </a:extLst>
          </p:cNvPr>
          <p:cNvSpPr txBox="1"/>
          <p:nvPr/>
        </p:nvSpPr>
        <p:spPr>
          <a:xfrm>
            <a:off x="611560" y="661472"/>
            <a:ext cx="6912768" cy="538609"/>
          </a:xfrm>
          <a:prstGeom prst="rect">
            <a:avLst/>
          </a:prstGeom>
          <a:noFill/>
        </p:spPr>
        <p:txBody>
          <a:bodyPr wrap="square">
            <a:spAutoFit/>
          </a:bodyPr>
          <a:lstStyle/>
          <a:p>
            <a:pPr marL="457200" indent="-457200">
              <a:buSzPts val="4000"/>
              <a:buFont typeface="Wingdings" panose="05000000000000000000" pitchFamily="2" charset="2"/>
              <a:buChar char="q"/>
            </a:pPr>
            <a:r>
              <a:rPr lang="en-IN" sz="2900" b="1">
                <a:latin typeface="Arial" panose="020B0604020202020204" pitchFamily="34" charset="0"/>
              </a:rPr>
              <a:t> HR Head Use Cases</a:t>
            </a:r>
            <a:endParaRPr lang="en-IN" sz="2900" b="1" dirty="0">
              <a:latin typeface="Arial" panose="020B0604020202020204" pitchFamily="34" charset="0"/>
            </a:endParaRPr>
          </a:p>
        </p:txBody>
      </p:sp>
      <p:pic>
        <p:nvPicPr>
          <p:cNvPr id="5" name="Picture 4">
            <a:extLst>
              <a:ext uri="{FF2B5EF4-FFF2-40B4-BE49-F238E27FC236}">
                <a16:creationId xmlns:a16="http://schemas.microsoft.com/office/drawing/2014/main" id="{5AF683F0-4560-D285-121B-0560586F7A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
        <p:nvSpPr>
          <p:cNvPr id="2" name="Content Placeholder 1">
            <a:extLst>
              <a:ext uri="{FF2B5EF4-FFF2-40B4-BE49-F238E27FC236}">
                <a16:creationId xmlns:a16="http://schemas.microsoft.com/office/drawing/2014/main" id="{1901A421-EF09-D607-88DE-5A1F4EA9F24C}"/>
              </a:ext>
            </a:extLst>
          </p:cNvPr>
          <p:cNvSpPr>
            <a:spLocks noGrp="1" noChangeArrowheads="1"/>
          </p:cNvSpPr>
          <p:nvPr>
            <p:ph idx="1"/>
          </p:nvPr>
        </p:nvSpPr>
        <p:spPr bwMode="auto">
          <a:xfrm>
            <a:off x="1116013" y="2144641"/>
            <a:ext cx="6984379" cy="256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200">
                <a:latin typeface="Arial" panose="020B0604020202020204" pitchFamily="34" charset="0"/>
              </a:rPr>
              <a:t>Create Manager and Employee accounts
Create and update Clients and Projects
Assign a Manager to a Project
Assign Employees to Projects
View Project and staffing status</a:t>
            </a:r>
            <a:endParaRPr kumimoji="0" lang="en-US" altLang="en-US" sz="22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5A7A00-2AD0-95BA-A7EB-F802774137A0}"/>
              </a:ext>
            </a:extLst>
          </p:cNvPr>
          <p:cNvSpPr txBox="1"/>
          <p:nvPr/>
        </p:nvSpPr>
        <p:spPr>
          <a:xfrm>
            <a:off x="426910" y="801033"/>
            <a:ext cx="6912768" cy="538609"/>
          </a:xfrm>
          <a:prstGeom prst="rect">
            <a:avLst/>
          </a:prstGeom>
          <a:noFill/>
        </p:spPr>
        <p:txBody>
          <a:bodyPr wrap="square">
            <a:spAutoFit/>
          </a:bodyPr>
          <a:lstStyle/>
          <a:p>
            <a:pPr marL="457200" indent="-457200">
              <a:buSzPts val="4000"/>
              <a:buFont typeface="Wingdings" panose="05000000000000000000" pitchFamily="2" charset="2"/>
              <a:buChar char="q"/>
            </a:pPr>
            <a:r>
              <a:rPr lang="en-IN" sz="2900" b="1">
                <a:latin typeface="Arial" panose="020B0604020202020204" pitchFamily="34" charset="0"/>
              </a:rPr>
              <a:t> Manager Use Cases</a:t>
            </a:r>
            <a:endParaRPr lang="en-IN" sz="2900" b="1" dirty="0">
              <a:latin typeface="Arial" panose="020B0604020202020204" pitchFamily="34" charset="0"/>
            </a:endParaRPr>
          </a:p>
        </p:txBody>
      </p:sp>
      <p:pic>
        <p:nvPicPr>
          <p:cNvPr id="5" name="Picture 4">
            <a:extLst>
              <a:ext uri="{FF2B5EF4-FFF2-40B4-BE49-F238E27FC236}">
                <a16:creationId xmlns:a16="http://schemas.microsoft.com/office/drawing/2014/main" id="{90D63F94-6A9F-5478-8903-2907A15883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
        <p:nvSpPr>
          <p:cNvPr id="6" name="Rectangle 2">
            <a:extLst>
              <a:ext uri="{FF2B5EF4-FFF2-40B4-BE49-F238E27FC236}">
                <a16:creationId xmlns:a16="http://schemas.microsoft.com/office/drawing/2014/main" id="{073A4070-0BFF-BDDC-4E06-B41EF8599568}"/>
              </a:ext>
            </a:extLst>
          </p:cNvPr>
          <p:cNvSpPr>
            <a:spLocks noGrp="1" noChangeArrowheads="1"/>
          </p:cNvSpPr>
          <p:nvPr>
            <p:ph idx="1"/>
          </p:nvPr>
        </p:nvSpPr>
        <p:spPr bwMode="auto">
          <a:xfrm>
            <a:off x="971600" y="2254101"/>
            <a:ext cx="5488939" cy="2940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0" i="0" u="none" strike="noStrike" cap="none" normalizeH="0" baseline="0" dirty="0">
                <a:ln>
                  <a:noFill/>
                </a:ln>
                <a:solidFill>
                  <a:schemeClr val="tx1"/>
                </a:solidFill>
                <a:effectLst/>
                <a:latin typeface="Arial" panose="020B0604020202020204" pitchFamily="34" charset="0"/>
              </a:rPr>
              <a:t>View managed Projects and team members
Create and assign Tasks
</a:t>
            </a:r>
            <a:r>
              <a:rPr lang="en-US" altLang="en-US" sz="2100" dirty="0">
                <a:latin typeface="Arial" panose="020B0604020202020204" pitchFamily="34" charset="0"/>
              </a:rPr>
              <a:t>C</a:t>
            </a:r>
            <a:r>
              <a:rPr kumimoji="0" lang="en-US" altLang="en-US" sz="2100" b="0" i="0" u="none" strike="noStrike" cap="none" normalizeH="0" baseline="0" dirty="0">
                <a:ln>
                  <a:noFill/>
                </a:ln>
                <a:solidFill>
                  <a:schemeClr val="tx1"/>
                </a:solidFill>
                <a:effectLst/>
                <a:latin typeface="Arial" panose="020B0604020202020204" pitchFamily="34" charset="0"/>
              </a:rPr>
              <a:t>heck Task progress
Review and approve or reject Timesheets
Resolve Employee Complaints
View Employee reports</a:t>
            </a:r>
            <a:endParaRPr kumimoji="0" lang="en-US" altLang="en-US" sz="21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5A7A00-2AD0-95BA-A7EB-F802774137A0}"/>
              </a:ext>
            </a:extLst>
          </p:cNvPr>
          <p:cNvSpPr txBox="1"/>
          <p:nvPr/>
        </p:nvSpPr>
        <p:spPr>
          <a:xfrm>
            <a:off x="426910" y="801033"/>
            <a:ext cx="6912768" cy="538609"/>
          </a:xfrm>
          <a:prstGeom prst="rect">
            <a:avLst/>
          </a:prstGeom>
          <a:noFill/>
        </p:spPr>
        <p:txBody>
          <a:bodyPr wrap="square">
            <a:spAutoFit/>
          </a:bodyPr>
          <a:lstStyle/>
          <a:p>
            <a:pPr marL="457200" indent="-457200">
              <a:buSzPts val="4000"/>
              <a:buFont typeface="Wingdings" panose="05000000000000000000" pitchFamily="2" charset="2"/>
              <a:buChar char="q"/>
            </a:pPr>
            <a:r>
              <a:rPr lang="en-IN" sz="2900" b="1">
                <a:latin typeface="Arial" panose="020B0604020202020204" pitchFamily="34" charset="0"/>
              </a:rPr>
              <a:t> Employee Use Cases</a:t>
            </a:r>
            <a:endParaRPr lang="en-IN" sz="2900" b="1" dirty="0">
              <a:latin typeface="Arial" panose="020B0604020202020204" pitchFamily="34" charset="0"/>
            </a:endParaRPr>
          </a:p>
        </p:txBody>
      </p:sp>
      <p:pic>
        <p:nvPicPr>
          <p:cNvPr id="5" name="Picture 4">
            <a:extLst>
              <a:ext uri="{FF2B5EF4-FFF2-40B4-BE49-F238E27FC236}">
                <a16:creationId xmlns:a16="http://schemas.microsoft.com/office/drawing/2014/main" id="{90D63F94-6A9F-5478-8903-2907A15883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sp>
        <p:nvSpPr>
          <p:cNvPr id="6" name="Rectangle 2">
            <a:extLst>
              <a:ext uri="{FF2B5EF4-FFF2-40B4-BE49-F238E27FC236}">
                <a16:creationId xmlns:a16="http://schemas.microsoft.com/office/drawing/2014/main" id="{073A4070-0BFF-BDDC-4E06-B41EF8599568}"/>
              </a:ext>
            </a:extLst>
          </p:cNvPr>
          <p:cNvSpPr>
            <a:spLocks noGrp="1" noChangeArrowheads="1"/>
          </p:cNvSpPr>
          <p:nvPr>
            <p:ph idx="1"/>
          </p:nvPr>
        </p:nvSpPr>
        <p:spPr bwMode="auto">
          <a:xfrm>
            <a:off x="971600" y="2011727"/>
            <a:ext cx="7912359" cy="342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0" i="0" u="none" strike="noStrike" cap="none" normalizeH="0" baseline="0">
                <a:ln>
                  <a:noFill/>
                </a:ln>
                <a:solidFill>
                  <a:schemeClr val="tx1"/>
                </a:solidFill>
                <a:effectLst/>
                <a:latin typeface="Arial" panose="020B0604020202020204" pitchFamily="34" charset="0"/>
              </a:rPr>
              <a:t>View assigned Projects and Tasks
Accept Tasks and update progress
Submit Project status
Fill and submit Timesheets
Track approval status 
Raise Complaints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100" b="0" i="0" u="none" strike="noStrike" cap="none" normalizeH="0" baseline="0">
                <a:ln>
                  <a:noFill/>
                </a:ln>
                <a:solidFill>
                  <a:schemeClr val="tx1"/>
                </a:solidFill>
                <a:effectLst/>
                <a:latin typeface="Arial" panose="020B0604020202020204" pitchFamily="34" charset="0"/>
              </a:rPr>
              <a:t>Use the AI Assistant for Task guidance and friendly conversation</a:t>
            </a:r>
            <a:endParaRPr kumimoji="0" lang="en-US" altLang="en-US" sz="21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77521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F95179-53B3-8C65-6AFE-44754266B999}"/>
              </a:ext>
            </a:extLst>
          </p:cNvPr>
          <p:cNvSpPr txBox="1"/>
          <p:nvPr/>
        </p:nvSpPr>
        <p:spPr>
          <a:xfrm>
            <a:off x="426910" y="801033"/>
            <a:ext cx="6912768" cy="707886"/>
          </a:xfrm>
          <a:prstGeom prst="rect">
            <a:avLst/>
          </a:prstGeom>
          <a:noFill/>
        </p:spPr>
        <p:txBody>
          <a:bodyPr wrap="square">
            <a:spAutoFit/>
          </a:bodyPr>
          <a:lstStyle/>
          <a:p>
            <a:pPr marL="457200" indent="-457200">
              <a:buSzPts val="4000"/>
              <a:buFont typeface="Wingdings" panose="05000000000000000000" pitchFamily="2" charset="2"/>
              <a:buChar char="q"/>
            </a:pPr>
            <a:r>
              <a:rPr lang="en-IN" sz="4000" b="1" dirty="0"/>
              <a:t> Project Methodology</a:t>
            </a:r>
          </a:p>
        </p:txBody>
      </p:sp>
      <p:pic>
        <p:nvPicPr>
          <p:cNvPr id="5" name="Picture 4">
            <a:extLst>
              <a:ext uri="{FF2B5EF4-FFF2-40B4-BE49-F238E27FC236}">
                <a16:creationId xmlns:a16="http://schemas.microsoft.com/office/drawing/2014/main" id="{A74FCCEE-621D-4A67-F7FD-C40775E3DE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sp>
        <p:nvSpPr>
          <p:cNvPr id="6" name="Rectangle 2">
            <a:extLst>
              <a:ext uri="{FF2B5EF4-FFF2-40B4-BE49-F238E27FC236}">
                <a16:creationId xmlns:a16="http://schemas.microsoft.com/office/drawing/2014/main" id="{630003D6-F64C-BA96-58D7-575BD0437737}"/>
              </a:ext>
            </a:extLst>
          </p:cNvPr>
          <p:cNvSpPr>
            <a:spLocks noGrp="1" noChangeArrowheads="1"/>
          </p:cNvSpPr>
          <p:nvPr>
            <p:ph idx="1"/>
          </p:nvPr>
        </p:nvSpPr>
        <p:spPr bwMode="auto">
          <a:xfrm>
            <a:off x="426910" y="2261541"/>
            <a:ext cx="8335601" cy="2669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900" b="0" i="0" u="none" strike="noStrike" cap="none" normalizeH="0" baseline="0">
                <a:ln>
                  <a:noFill/>
                </a:ln>
                <a:solidFill>
                  <a:schemeClr val="tx1"/>
                </a:solidFill>
                <a:effectLst/>
                <a:latin typeface="Arial" panose="020B0604020202020204" pitchFamily="34" charset="0"/>
              </a:rPr>
              <a:t>Followed an Agile and incremental development approach
Project divided into modules: Auth, Business, Transaction and AI
Implemented one module at a time through all application layers
Continuous development, testing and improvement cycle
Manual API and UI testing performed after each major feature
Regular validation of business logic, role permissions and security</a:t>
            </a:r>
            <a:endParaRPr kumimoji="0" lang="en-US" altLang="en-US" sz="19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3F62E-2B2C-2923-8F85-8FA515BF71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244B40-2FB7-F7E4-6997-385A12A287BB}"/>
              </a:ext>
            </a:extLst>
          </p:cNvPr>
          <p:cNvSpPr txBox="1"/>
          <p:nvPr/>
        </p:nvSpPr>
        <p:spPr>
          <a:xfrm>
            <a:off x="395536" y="332656"/>
            <a:ext cx="3565015" cy="523220"/>
          </a:xfrm>
          <a:prstGeom prst="rect">
            <a:avLst/>
          </a:prstGeom>
          <a:noFill/>
        </p:spPr>
        <p:txBody>
          <a:bodyPr wrap="none" rtlCol="0">
            <a:spAutoFit/>
          </a:bodyPr>
          <a:lstStyle/>
          <a:p>
            <a:pPr marL="457200" indent="-457200">
              <a:buFont typeface="Wingdings" panose="05000000000000000000" pitchFamily="2" charset="2"/>
              <a:buChar char="q"/>
            </a:pPr>
            <a:r>
              <a:rPr lang="en-US" sz="2800"/>
              <a:t>Project Architecture</a:t>
            </a:r>
          </a:p>
        </p:txBody>
      </p:sp>
      <p:pic>
        <p:nvPicPr>
          <p:cNvPr id="14" name="Picture 13">
            <a:extLst>
              <a:ext uri="{FF2B5EF4-FFF2-40B4-BE49-F238E27FC236}">
                <a16:creationId xmlns:a16="http://schemas.microsoft.com/office/drawing/2014/main" id="{25AA6980-AB92-372F-7342-115CDA1A35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pic>
        <p:nvPicPr>
          <p:cNvPr id="3" name="Picture 2">
            <a:extLst>
              <a:ext uri="{FF2B5EF4-FFF2-40B4-BE49-F238E27FC236}">
                <a16:creationId xmlns:a16="http://schemas.microsoft.com/office/drawing/2014/main" id="{5F496214-9B5C-7D5F-B452-FD06E1941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1587995"/>
            <a:ext cx="8496944" cy="3682009"/>
          </a:xfrm>
          <a:prstGeom prst="rect">
            <a:avLst/>
          </a:prstGeom>
        </p:spPr>
      </p:pic>
      <p:sp>
        <p:nvSpPr>
          <p:cNvPr id="2" name="Rectangle: Rounded Corners 1">
            <a:extLst>
              <a:ext uri="{FF2B5EF4-FFF2-40B4-BE49-F238E27FC236}">
                <a16:creationId xmlns:a16="http://schemas.microsoft.com/office/drawing/2014/main" id="{0FEB4F4A-A3FC-6945-50CD-AE02CC6FC41C}"/>
              </a:ext>
            </a:extLst>
          </p:cNvPr>
          <p:cNvSpPr/>
          <p:nvPr/>
        </p:nvSpPr>
        <p:spPr>
          <a:xfrm>
            <a:off x="4470400" y="4572000"/>
            <a:ext cx="1879600" cy="482600"/>
          </a:xfrm>
          <a:prstGeom prst="roundRect">
            <a:avLst/>
          </a:prstGeom>
          <a:solidFill>
            <a:srgbClr val="F5EEFF"/>
          </a:solidFill>
          <a:ln w="15875">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37304B"/>
                </a:solidFill>
                <a:latin typeface="Arial" panose="020B0604020202020204" pitchFamily="34" charset="0"/>
              </a:rPr>
              <a:t>AI Service - 8084</a:t>
            </a:r>
          </a:p>
          <a:p>
            <a:pPr algn="ctr"/>
            <a:r>
              <a:rPr lang="en-US" sz="1000" b="1">
                <a:solidFill>
                  <a:srgbClr val="37304B"/>
                </a:solidFill>
                <a:latin typeface="Arial" panose="020B0604020202020204" pitchFamily="34" charset="0"/>
              </a:rPr>
              <a:t>Employee Task Assistant</a:t>
            </a:r>
            <a:endParaRPr lang="en-IN" sz="1000" b="1">
              <a:solidFill>
                <a:srgbClr val="37304B"/>
              </a:solidFill>
              <a:latin typeface="Arial" panose="020B0604020202020204" pitchFamily="34" charset="0"/>
            </a:endParaRPr>
          </a:p>
        </p:txBody>
      </p:sp>
      <p:cxnSp>
        <p:nvCxnSpPr>
          <p:cNvPr id="5" name="Straight Arrow Connector 4">
            <a:extLst>
              <a:ext uri="{FF2B5EF4-FFF2-40B4-BE49-F238E27FC236}">
                <a16:creationId xmlns:a16="http://schemas.microsoft.com/office/drawing/2014/main" id="{C4E78CF3-5BD8-E19E-F8AF-665C355992E7}"/>
              </a:ext>
            </a:extLst>
          </p:cNvPr>
          <p:cNvCxnSpPr/>
          <p:nvPr/>
        </p:nvCxnSpPr>
        <p:spPr>
          <a:xfrm>
            <a:off x="4089400" y="3213100"/>
            <a:ext cx="381000" cy="1600200"/>
          </a:xfrm>
          <a:prstGeom prst="straightConnector1">
            <a:avLst/>
          </a:prstGeom>
          <a:ln w="19050">
            <a:solidFill>
              <a:srgbClr val="3B82F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9414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260648"/>
            <a:ext cx="3622082" cy="523220"/>
          </a:xfrm>
          <a:prstGeom prst="rect">
            <a:avLst/>
          </a:prstGeom>
          <a:noFill/>
        </p:spPr>
        <p:txBody>
          <a:bodyPr wrap="none" rtlCol="0">
            <a:spAutoFit/>
          </a:bodyPr>
          <a:lstStyle/>
          <a:p>
            <a:pPr marL="457200" indent="-457200">
              <a:buFont typeface="Wingdings" panose="05000000000000000000" pitchFamily="2" charset="2"/>
              <a:buChar char="q"/>
            </a:pPr>
            <a:r>
              <a:rPr lang="en-US" sz="2800" dirty="0"/>
              <a:t> Front-end workflow</a:t>
            </a:r>
          </a:p>
        </p:txBody>
      </p:sp>
      <p:pic>
        <p:nvPicPr>
          <p:cNvPr id="37" name="Picture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392" y="20229"/>
            <a:ext cx="976685" cy="960499"/>
          </a:xfrm>
          <a:prstGeom prst="rect">
            <a:avLst/>
          </a:prstGeom>
        </p:spPr>
      </p:pic>
      <p:pic>
        <p:nvPicPr>
          <p:cNvPr id="3" name="Picture 2">
            <a:extLst>
              <a:ext uri="{FF2B5EF4-FFF2-40B4-BE49-F238E27FC236}">
                <a16:creationId xmlns:a16="http://schemas.microsoft.com/office/drawing/2014/main" id="{DBEFC87F-808C-A39D-9FDE-94F2B8BF5C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1587500"/>
            <a:ext cx="8255000" cy="3577166"/>
          </a:xfrm>
          <a:prstGeom prst="rect">
            <a:avLst/>
          </a:prstGeom>
        </p:spPr>
      </p:pic>
      <p:sp>
        <p:nvSpPr>
          <p:cNvPr id="2" name="Rectangle: Rounded Corners 1">
            <a:extLst>
              <a:ext uri="{FF2B5EF4-FFF2-40B4-BE49-F238E27FC236}">
                <a16:creationId xmlns:a16="http://schemas.microsoft.com/office/drawing/2014/main" id="{4F7ED7F2-4C72-3B98-8192-4437A19C8621}"/>
              </a:ext>
            </a:extLst>
          </p:cNvPr>
          <p:cNvSpPr/>
          <p:nvPr/>
        </p:nvSpPr>
        <p:spPr>
          <a:xfrm>
            <a:off x="4013200" y="4470400"/>
            <a:ext cx="1587500" cy="381000"/>
          </a:xfrm>
          <a:prstGeom prst="roundRect">
            <a:avLst/>
          </a:prstGeom>
          <a:solidFill>
            <a:srgbClr val="F5EEFF"/>
          </a:solidFill>
          <a:ln w="15875">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solidFill>
                  <a:srgbClr val="37304B"/>
                </a:solidFill>
                <a:latin typeface="Arial" panose="020B0604020202020204" pitchFamily="34" charset="0"/>
              </a:rPr>
              <a:t>AI Service - 8084</a:t>
            </a:r>
          </a:p>
          <a:p>
            <a:pPr algn="ctr"/>
            <a:r>
              <a:rPr lang="en-US" sz="800" b="1">
                <a:solidFill>
                  <a:srgbClr val="37304B"/>
                </a:solidFill>
                <a:latin typeface="Arial" panose="020B0604020202020204" pitchFamily="34" charset="0"/>
              </a:rPr>
              <a:t>Employee Task Assistant</a:t>
            </a:r>
            <a:endParaRPr lang="en-IN" sz="800" b="1">
              <a:solidFill>
                <a:srgbClr val="37304B"/>
              </a:solidFill>
              <a:latin typeface="Arial" panose="020B0604020202020204" pitchFamily="34" charset="0"/>
            </a:endParaRPr>
          </a:p>
        </p:txBody>
      </p:sp>
      <p:cxnSp>
        <p:nvCxnSpPr>
          <p:cNvPr id="5" name="Straight Arrow Connector 4">
            <a:extLst>
              <a:ext uri="{FF2B5EF4-FFF2-40B4-BE49-F238E27FC236}">
                <a16:creationId xmlns:a16="http://schemas.microsoft.com/office/drawing/2014/main" id="{DA380101-B007-B6D9-5A5F-194A4F5BC69B}"/>
              </a:ext>
            </a:extLst>
          </p:cNvPr>
          <p:cNvCxnSpPr/>
          <p:nvPr/>
        </p:nvCxnSpPr>
        <p:spPr>
          <a:xfrm>
            <a:off x="2044700" y="4279900"/>
            <a:ext cx="1968500" cy="381000"/>
          </a:xfrm>
          <a:prstGeom prst="straightConnector1">
            <a:avLst/>
          </a:prstGeom>
          <a:ln w="19050">
            <a:solidFill>
              <a:srgbClr val="3B82F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0105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BE40-811A-ADC7-8C49-A038895180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A613D2-7786-8DC7-9F18-1A506064B5E7}"/>
              </a:ext>
            </a:extLst>
          </p:cNvPr>
          <p:cNvSpPr txBox="1"/>
          <p:nvPr/>
        </p:nvSpPr>
        <p:spPr>
          <a:xfrm>
            <a:off x="72008" y="260648"/>
            <a:ext cx="6676123" cy="523220"/>
          </a:xfrm>
          <a:prstGeom prst="rect">
            <a:avLst/>
          </a:prstGeom>
          <a:noFill/>
        </p:spPr>
        <p:txBody>
          <a:bodyPr wrap="none" rtlCol="0">
            <a:spAutoFit/>
          </a:bodyPr>
          <a:lstStyle/>
          <a:p>
            <a:pPr marL="457200" indent="-457200">
              <a:buFont typeface="Wingdings" panose="05000000000000000000" pitchFamily="2" charset="2"/>
              <a:buChar char="q"/>
            </a:pPr>
            <a:r>
              <a:rPr lang="en-US" sz="2800" dirty="0"/>
              <a:t>Microservices Architecture and Workflow</a:t>
            </a:r>
          </a:p>
        </p:txBody>
      </p:sp>
      <p:pic>
        <p:nvPicPr>
          <p:cNvPr id="37" name="Picture 36">
            <a:extLst>
              <a:ext uri="{FF2B5EF4-FFF2-40B4-BE49-F238E27FC236}">
                <a16:creationId xmlns:a16="http://schemas.microsoft.com/office/drawing/2014/main" id="{DED2C0C8-3DD4-B805-C10C-43CC7323E7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pic>
        <p:nvPicPr>
          <p:cNvPr id="3" name="Picture 2">
            <a:extLst>
              <a:ext uri="{FF2B5EF4-FFF2-40B4-BE49-F238E27FC236}">
                <a16:creationId xmlns:a16="http://schemas.microsoft.com/office/drawing/2014/main" id="{40E38183-F39B-B0E0-4969-43986CA29A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00" y="1587500"/>
            <a:ext cx="8255000" cy="3577167"/>
          </a:xfrm>
          <a:prstGeom prst="rect">
            <a:avLst/>
          </a:prstGeom>
        </p:spPr>
      </p:pic>
      <p:sp>
        <p:nvSpPr>
          <p:cNvPr id="2" name="Rectangle: Rounded Corners 1">
            <a:extLst>
              <a:ext uri="{FF2B5EF4-FFF2-40B4-BE49-F238E27FC236}">
                <a16:creationId xmlns:a16="http://schemas.microsoft.com/office/drawing/2014/main" id="{9FFA62A0-8280-A56D-1256-6C6958546167}"/>
              </a:ext>
            </a:extLst>
          </p:cNvPr>
          <p:cNvSpPr/>
          <p:nvPr/>
        </p:nvSpPr>
        <p:spPr>
          <a:xfrm>
            <a:off x="6083300" y="4749800"/>
            <a:ext cx="1358900" cy="381000"/>
          </a:xfrm>
          <a:prstGeom prst="roundRect">
            <a:avLst/>
          </a:prstGeom>
          <a:solidFill>
            <a:srgbClr val="F5EEFF"/>
          </a:solidFill>
          <a:ln w="15875">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solidFill>
                  <a:srgbClr val="37304B"/>
                </a:solidFill>
                <a:latin typeface="Arial" panose="020B0604020202020204" pitchFamily="34" charset="0"/>
              </a:rPr>
              <a:t>AI Service - 8084</a:t>
            </a:r>
          </a:p>
          <a:p>
            <a:pPr algn="ctr"/>
            <a:r>
              <a:rPr lang="en-US" sz="800" b="1">
                <a:solidFill>
                  <a:srgbClr val="37304B"/>
                </a:solidFill>
                <a:latin typeface="Arial" panose="020B0604020202020204" pitchFamily="34" charset="0"/>
              </a:rPr>
              <a:t>Employee Task Assistant</a:t>
            </a:r>
            <a:endParaRPr lang="en-IN" sz="800" b="1">
              <a:solidFill>
                <a:srgbClr val="37304B"/>
              </a:solidFill>
              <a:latin typeface="Arial" panose="020B0604020202020204" pitchFamily="34" charset="0"/>
            </a:endParaRPr>
          </a:p>
        </p:txBody>
      </p:sp>
      <p:cxnSp>
        <p:nvCxnSpPr>
          <p:cNvPr id="5" name="Straight Arrow Connector 4">
            <a:extLst>
              <a:ext uri="{FF2B5EF4-FFF2-40B4-BE49-F238E27FC236}">
                <a16:creationId xmlns:a16="http://schemas.microsoft.com/office/drawing/2014/main" id="{F47A66EB-73A3-CE24-0CF4-14F02280E021}"/>
              </a:ext>
            </a:extLst>
          </p:cNvPr>
          <p:cNvCxnSpPr/>
          <p:nvPr/>
        </p:nvCxnSpPr>
        <p:spPr>
          <a:xfrm>
            <a:off x="3581400" y="3340100"/>
            <a:ext cx="2501900" cy="1600200"/>
          </a:xfrm>
          <a:prstGeom prst="straightConnector1">
            <a:avLst/>
          </a:prstGeom>
          <a:ln w="19050">
            <a:solidFill>
              <a:srgbClr val="3B82F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28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F95179-53B3-8C65-6AFE-44754266B999}"/>
              </a:ext>
            </a:extLst>
          </p:cNvPr>
          <p:cNvSpPr txBox="1"/>
          <p:nvPr/>
        </p:nvSpPr>
        <p:spPr>
          <a:xfrm>
            <a:off x="426910" y="801033"/>
            <a:ext cx="7874000" cy="711200"/>
          </a:xfrm>
          <a:prstGeom prst="rect">
            <a:avLst/>
          </a:prstGeom>
          <a:noFill/>
        </p:spPr>
        <p:txBody>
          <a:bodyPr wrap="square">
            <a:noAutofit/>
          </a:bodyPr>
          <a:lstStyle/>
          <a:p>
            <a:pPr marL="457200" indent="-457200">
              <a:buSzPts val="4000"/>
              <a:buFont typeface="Wingdings" panose="05000000000000000000" pitchFamily="2" charset="2"/>
              <a:buChar char="q"/>
            </a:pPr>
            <a:r>
              <a:rPr lang="en-IN" sz="2600" b="1"/>
              <a:t>My Role and Contribution</a:t>
            </a:r>
            <a:endParaRPr lang="en-IN" sz="2600" b="1" dirty="0"/>
          </a:p>
        </p:txBody>
      </p:sp>
      <p:pic>
        <p:nvPicPr>
          <p:cNvPr id="5" name="Picture 4">
            <a:extLst>
              <a:ext uri="{FF2B5EF4-FFF2-40B4-BE49-F238E27FC236}">
                <a16:creationId xmlns:a16="http://schemas.microsoft.com/office/drawing/2014/main" id="{A74FCCEE-621D-4A67-F7FD-C40775E3DE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sp>
        <p:nvSpPr>
          <p:cNvPr id="6" name="Rectangle 2">
            <a:extLst>
              <a:ext uri="{FF2B5EF4-FFF2-40B4-BE49-F238E27FC236}">
                <a16:creationId xmlns:a16="http://schemas.microsoft.com/office/drawing/2014/main" id="{630003D6-F64C-BA96-58D7-575BD0437737}"/>
              </a:ext>
            </a:extLst>
          </p:cNvPr>
          <p:cNvSpPr>
            <a:spLocks noGrp="1" noChangeArrowheads="1"/>
          </p:cNvSpPr>
          <p:nvPr>
            <p:ph idx="1"/>
          </p:nvPr>
        </p:nvSpPr>
        <p:spPr bwMode="auto">
          <a:xfrm>
            <a:off x="426909" y="1841500"/>
            <a:ext cx="8335602"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0" marR="0" lvl="0" indent="0" algn="l" defTabSz="914400" rtl="0" eaLnBrk="0" fontAlgn="base" latinLnBrk="0" hangingPunct="0">
              <a:spcBef>
                <a:spcPts val="0"/>
              </a:spcBef>
              <a:spcAft>
                <a:spcPts val="80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Designed Business Service modules for Clients, Projects and Employee-Project Assignments</a:t>
            </a:r>
          </a:p>
          <a:p>
            <a:pPr marL="0" marR="0" lvl="0" indent="0" algn="l" defTabSz="914400" rtl="0" eaLnBrk="0" fontAlgn="base" latinLnBrk="0" hangingPunct="0">
              <a:spcBef>
                <a:spcPts val="0"/>
              </a:spcBef>
              <a:spcAft>
                <a:spcPts val="80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Implemented role-based Controllers, Services, Repositories, DTOs and security</a:t>
            </a:r>
          </a:p>
          <a:p>
            <a:pPr marL="0" marR="0" lvl="0" indent="0" algn="l" defTabSz="914400" rtl="0" eaLnBrk="0" fontAlgn="base" latinLnBrk="0" hangingPunct="0">
              <a:spcBef>
                <a:spcPts val="0"/>
              </a:spcBef>
              <a:spcAft>
                <a:spcPts val="80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Built React pages, protected routes, sidebar navigation and API integration</a:t>
            </a:r>
          </a:p>
          <a:p>
            <a:pPr marL="0" marR="0" lvl="0" indent="0" algn="l" defTabSz="914400" rtl="0" eaLnBrk="0" fontAlgn="base" latinLnBrk="0" hangingPunct="0">
              <a:spcBef>
                <a:spcPts val="0"/>
              </a:spcBef>
              <a:spcAft>
                <a:spcPts val="80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Developed the Employee AI Assistant using Gemini and secure Task context</a:t>
            </a:r>
          </a:p>
          <a:p>
            <a:pPr marL="0" marR="0" lvl="0" indent="0" algn="l" defTabSz="914400" rtl="0" eaLnBrk="0" fontAlgn="base" latinLnBrk="0" hangingPunct="0">
              <a:spcBef>
                <a:spcPts val="0"/>
              </a:spcBef>
              <a:spcAft>
                <a:spcPts val="80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Tested APIs with Postman and resolved JWT, Eureka and integration issues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7638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5DD6BCA-3033-31DA-B2D3-A3AE92B78059}"/>
              </a:ext>
            </a:extLst>
          </p:cNvPr>
          <p:cNvSpPr txBox="1"/>
          <p:nvPr/>
        </p:nvSpPr>
        <p:spPr>
          <a:xfrm>
            <a:off x="395536" y="764704"/>
            <a:ext cx="6912768" cy="707886"/>
          </a:xfrm>
          <a:prstGeom prst="rect">
            <a:avLst/>
          </a:prstGeom>
          <a:noFill/>
        </p:spPr>
        <p:txBody>
          <a:bodyPr wrap="square">
            <a:spAutoFit/>
          </a:bodyPr>
          <a:lstStyle/>
          <a:p>
            <a:pPr marL="457200" indent="-457200">
              <a:buSzPts val="4000"/>
              <a:buFont typeface="Wingdings" panose="05000000000000000000" pitchFamily="2" charset="2"/>
              <a:buChar char="q"/>
            </a:pPr>
            <a:r>
              <a:rPr lang="en-IN" sz="4000" b="1" dirty="0"/>
              <a:t> Testing &amp; Tools</a:t>
            </a:r>
          </a:p>
        </p:txBody>
      </p:sp>
      <p:pic>
        <p:nvPicPr>
          <p:cNvPr id="5" name="Picture 4">
            <a:extLst>
              <a:ext uri="{FF2B5EF4-FFF2-40B4-BE49-F238E27FC236}">
                <a16:creationId xmlns:a16="http://schemas.microsoft.com/office/drawing/2014/main" id="{4F7DABFB-3162-FA74-71AD-A7C971DC17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sp>
        <p:nvSpPr>
          <p:cNvPr id="2" name="Content Placeholder 1">
            <a:extLst>
              <a:ext uri="{FF2B5EF4-FFF2-40B4-BE49-F238E27FC236}">
                <a16:creationId xmlns:a16="http://schemas.microsoft.com/office/drawing/2014/main" id="{0657D7E2-21F6-E9CF-609E-9384B6D7E1C2}"/>
              </a:ext>
            </a:extLst>
          </p:cNvPr>
          <p:cNvSpPr>
            <a:spLocks noGrp="1" noChangeArrowheads="1"/>
          </p:cNvSpPr>
          <p:nvPr>
            <p:ph idx="1"/>
          </p:nvPr>
        </p:nvSpPr>
        <p:spPr bwMode="auto">
          <a:xfrm>
            <a:off x="315813" y="1548654"/>
            <a:ext cx="8512373" cy="3183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1700" b="1" i="0" u="none" strike="noStrike" cap="none" normalizeH="0" baseline="0" dirty="0">
                <a:ln>
                  <a:noFill/>
                </a:ln>
                <a:solidFill>
                  <a:schemeClr val="tx1"/>
                </a:solidFill>
                <a:effectLst/>
                <a:latin typeface="Arial" panose="020B0604020202020204" pitchFamily="34" charset="0"/>
              </a:rPr>
              <a:t>API Testing: </a:t>
            </a:r>
            <a:r>
              <a:rPr kumimoji="0" lang="en-US" altLang="en-US" sz="1700" i="0" u="none" strike="noStrike" cap="none" normalizeH="0" baseline="0" dirty="0">
                <a:ln>
                  <a:noFill/>
                </a:ln>
                <a:solidFill>
                  <a:schemeClr val="tx1"/>
                </a:solidFill>
                <a:effectLst/>
                <a:latin typeface="Arial" panose="020B0604020202020204" pitchFamily="34" charset="0"/>
              </a:rPr>
              <a:t>Postman requests, response bodies and HTTP status codes</a:t>
            </a:r>
            <a:r>
              <a:rPr kumimoji="0" lang="en-US" altLang="en-US" sz="1700" b="1" i="0" u="none" strike="noStrike" cap="none" normalizeH="0" baseline="0" dirty="0">
                <a:ln>
                  <a:noFill/>
                </a:ln>
                <a:solidFill>
                  <a:schemeClr val="tx1"/>
                </a:solidFill>
                <a:effectLst/>
                <a:latin typeface="Arial" panose="020B0604020202020204" pitchFamily="34" charset="0"/>
              </a:rPr>
              <a:t>
Integration Testing: </a:t>
            </a:r>
            <a:r>
              <a:rPr kumimoji="0" lang="en-US" altLang="en-US" sz="1700" i="0" u="none" strike="noStrike" cap="none" normalizeH="0" baseline="0" dirty="0">
                <a:ln>
                  <a:noFill/>
                </a:ln>
                <a:solidFill>
                  <a:schemeClr val="tx1"/>
                </a:solidFill>
                <a:effectLst/>
                <a:latin typeface="Arial" panose="020B0604020202020204" pitchFamily="34" charset="0"/>
              </a:rPr>
              <a:t>React to Gateway to service to MySQL verification</a:t>
            </a:r>
            <a:r>
              <a:rPr kumimoji="0" lang="en-US" altLang="en-US" sz="1700" b="1" i="0" u="none" strike="noStrike" cap="none" normalizeH="0" baseline="0" dirty="0">
                <a:ln>
                  <a:noFill/>
                </a:ln>
                <a:solidFill>
                  <a:schemeClr val="tx1"/>
                </a:solidFill>
                <a:effectLst/>
                <a:latin typeface="Arial" panose="020B0604020202020204" pitchFamily="34" charset="0"/>
              </a:rPr>
              <a:t>
Functional Testing: </a:t>
            </a:r>
            <a:r>
              <a:rPr kumimoji="0" lang="en-US" altLang="en-US" sz="1700" i="0" u="none" strike="noStrike" cap="none" normalizeH="0" baseline="0" dirty="0">
                <a:ln>
                  <a:noFill/>
                </a:ln>
                <a:solidFill>
                  <a:schemeClr val="tx1"/>
                </a:solidFill>
                <a:effectLst/>
                <a:latin typeface="Arial" panose="020B0604020202020204" pitchFamily="34" charset="0"/>
              </a:rPr>
              <a:t>Login, Project, Task and Timesheet approval flows</a:t>
            </a:r>
            <a:r>
              <a:rPr kumimoji="0" lang="en-US" altLang="en-US" sz="1700" b="1" i="0" u="none" strike="noStrike" cap="none" normalizeH="0" baseline="0" dirty="0">
                <a:ln>
                  <a:noFill/>
                </a:ln>
                <a:solidFill>
                  <a:schemeClr val="tx1"/>
                </a:solidFill>
                <a:effectLst/>
                <a:latin typeface="Arial" panose="020B0604020202020204" pitchFamily="34" charset="0"/>
              </a:rPr>
              <a:t>
UI Testing: </a:t>
            </a:r>
            <a:r>
              <a:rPr kumimoji="0" lang="en-US" altLang="en-US" sz="1700" i="0" u="none" strike="noStrike" cap="none" normalizeH="0" baseline="0" dirty="0">
                <a:ln>
                  <a:noFill/>
                </a:ln>
                <a:solidFill>
                  <a:schemeClr val="tx1"/>
                </a:solidFill>
                <a:effectLst/>
                <a:latin typeface="Arial" panose="020B0604020202020204" pitchFamily="34" charset="0"/>
              </a:rPr>
              <a:t>Forms, validation, navigation, loading and error messages</a:t>
            </a:r>
            <a:r>
              <a:rPr kumimoji="0" lang="en-US" altLang="en-US" sz="1700" b="1" i="0" u="none" strike="noStrike" cap="none" normalizeH="0" baseline="0" dirty="0">
                <a:ln>
                  <a:noFill/>
                </a:ln>
                <a:solidFill>
                  <a:schemeClr val="tx1"/>
                </a:solidFill>
                <a:effectLst/>
                <a:latin typeface="Arial" panose="020B0604020202020204" pitchFamily="34" charset="0"/>
              </a:rPr>
              <a:t>
Security Testing: </a:t>
            </a:r>
            <a:r>
              <a:rPr kumimoji="0" lang="en-US" altLang="en-US" sz="1700" i="0" u="none" strike="noStrike" cap="none" normalizeH="0" baseline="0" dirty="0">
                <a:ln>
                  <a:noFill/>
                </a:ln>
                <a:solidFill>
                  <a:schemeClr val="tx1"/>
                </a:solidFill>
                <a:effectLst/>
                <a:latin typeface="Arial" panose="020B0604020202020204" pitchFamily="34" charset="0"/>
              </a:rPr>
              <a:t>JWT cookie, authentication and role-based authorization</a:t>
            </a:r>
            <a:r>
              <a:rPr kumimoji="0" lang="en-US" altLang="en-US" sz="1700" b="1" i="0" u="none" strike="noStrike" cap="none" normalizeH="0" baseline="0" dirty="0">
                <a:ln>
                  <a:noFill/>
                </a:ln>
                <a:solidFill>
                  <a:schemeClr val="tx1"/>
                </a:solidFill>
                <a:effectLst/>
                <a:latin typeface="Arial" panose="020B0604020202020204" pitchFamily="34" charset="0"/>
              </a:rPr>
              <a:t>
Manual Testing: </a:t>
            </a:r>
            <a:r>
              <a:rPr kumimoji="0" lang="en-US" altLang="en-US" sz="1700" i="0" u="none" strike="noStrike" cap="none" normalizeH="0" baseline="0" dirty="0">
                <a:ln>
                  <a:noFill/>
                </a:ln>
                <a:solidFill>
                  <a:schemeClr val="tx1"/>
                </a:solidFill>
                <a:effectLst/>
                <a:latin typeface="Arial" panose="020B0604020202020204" pitchFamily="34" charset="0"/>
              </a:rPr>
              <a:t>Admin, HR Head, Manager and Employee scenarios</a:t>
            </a:r>
            <a:r>
              <a:rPr kumimoji="0" lang="en-US" altLang="en-US" sz="1700" b="1" i="0" u="none" strike="noStrike" cap="none" normalizeH="0" baseline="0" dirty="0">
                <a:ln>
                  <a:noFill/>
                </a:ln>
                <a:solidFill>
                  <a:schemeClr val="tx1"/>
                </a:solidFill>
                <a:effectLst/>
                <a:latin typeface="Arial" panose="020B0604020202020204" pitchFamily="34" charset="0"/>
              </a:rPr>
              <a:t>
Tools Used: Postman, Browser </a:t>
            </a:r>
            <a:r>
              <a:rPr kumimoji="0" lang="en-US" altLang="en-US" sz="1700" b="1" i="0" u="none" strike="noStrike" cap="none" normalizeH="0" baseline="0" dirty="0" err="1">
                <a:ln>
                  <a:noFill/>
                </a:ln>
                <a:solidFill>
                  <a:schemeClr val="tx1"/>
                </a:solidFill>
                <a:effectLst/>
                <a:latin typeface="Arial" panose="020B0604020202020204" pitchFamily="34" charset="0"/>
              </a:rPr>
              <a:t>DevTools</a:t>
            </a:r>
            <a:r>
              <a:rPr kumimoji="0" lang="en-US" altLang="en-US" sz="1700" b="1" i="0" u="none" strike="noStrike" cap="none" normalizeH="0" baseline="0" dirty="0">
                <a:ln>
                  <a:noFill/>
                </a:ln>
                <a:solidFill>
                  <a:schemeClr val="tx1"/>
                </a:solidFill>
                <a:effectLst/>
                <a:latin typeface="Arial" panose="020B0604020202020204" pitchFamily="34" charset="0"/>
              </a:rPr>
              <a:t>, MySQL Workbench, STS and VS Code</a:t>
            </a:r>
            <a:endParaRPr kumimoji="0" lang="en-US" altLang="en-US" sz="17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6082A-1DBE-160C-962B-F00722DCEB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D0A8B3-F04E-A243-B423-E0E3218D7057}"/>
              </a:ext>
            </a:extLst>
          </p:cNvPr>
          <p:cNvSpPr txBox="1"/>
          <p:nvPr/>
        </p:nvSpPr>
        <p:spPr>
          <a:xfrm>
            <a:off x="426910" y="801033"/>
            <a:ext cx="6912768" cy="707886"/>
          </a:xfrm>
          <a:prstGeom prst="rect">
            <a:avLst/>
          </a:prstGeom>
          <a:noFill/>
        </p:spPr>
        <p:txBody>
          <a:bodyPr wrap="square">
            <a:spAutoFit/>
          </a:bodyPr>
          <a:lstStyle/>
          <a:p>
            <a:pPr marL="457200" indent="-457200">
              <a:buSzPts val="4000"/>
              <a:buFont typeface="Wingdings" panose="05000000000000000000" pitchFamily="2" charset="2"/>
              <a:buChar char="q"/>
            </a:pPr>
            <a:r>
              <a:rPr lang="en-IN" sz="4000" b="1" dirty="0"/>
              <a:t> Future Scope</a:t>
            </a:r>
          </a:p>
        </p:txBody>
      </p:sp>
      <p:pic>
        <p:nvPicPr>
          <p:cNvPr id="5" name="Picture 4">
            <a:extLst>
              <a:ext uri="{FF2B5EF4-FFF2-40B4-BE49-F238E27FC236}">
                <a16:creationId xmlns:a16="http://schemas.microsoft.com/office/drawing/2014/main" id="{2F1960A4-6308-E674-CF1B-FC5C54F96F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sp>
        <p:nvSpPr>
          <p:cNvPr id="3" name="Rectangle 1">
            <a:extLst>
              <a:ext uri="{FF2B5EF4-FFF2-40B4-BE49-F238E27FC236}">
                <a16:creationId xmlns:a16="http://schemas.microsoft.com/office/drawing/2014/main" id="{8DB33DD9-7095-D2BB-D869-D03D2794993B}"/>
              </a:ext>
            </a:extLst>
          </p:cNvPr>
          <p:cNvSpPr>
            <a:spLocks noGrp="1" noChangeArrowheads="1"/>
          </p:cNvSpPr>
          <p:nvPr>
            <p:ph idx="1"/>
          </p:nvPr>
        </p:nvSpPr>
        <p:spPr bwMode="auto">
          <a:xfrm>
            <a:off x="539552" y="1700679"/>
            <a:ext cx="7676975" cy="2805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Voice-enabled AI and proactive Task recommendations
Email and in-app notifications for deadlines and approvals
Advanced analytics and downloadable reporting dashboards
Docker deployment, centralized logging and monitoring
Automated testing, performance optimization and CI/CD
Mobile-friendly experience and optional mobile application</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5621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FFEDEA2-75FD-5882-B18A-E6E20071B838}"/>
              </a:ext>
            </a:extLst>
          </p:cNvPr>
          <p:cNvSpPr txBox="1"/>
          <p:nvPr/>
        </p:nvSpPr>
        <p:spPr>
          <a:xfrm>
            <a:off x="426910" y="801033"/>
            <a:ext cx="6912768" cy="523220"/>
          </a:xfrm>
          <a:prstGeom prst="rect">
            <a:avLst/>
          </a:prstGeom>
          <a:noFill/>
        </p:spPr>
        <p:txBody>
          <a:bodyPr wrap="square">
            <a:spAutoFit/>
          </a:bodyPr>
          <a:lstStyle/>
          <a:p>
            <a:pPr marL="457200" indent="-457200">
              <a:buSzPts val="4000"/>
              <a:buFont typeface="Wingdings" panose="05000000000000000000" pitchFamily="2" charset="2"/>
              <a:buChar char="q"/>
            </a:pPr>
            <a:r>
              <a:rPr lang="en-IN" sz="2800" b="1">
                <a:latin typeface="Arial" panose="020B0604020202020204" pitchFamily="34" charset="0"/>
              </a:rPr>
              <a:t> Conclusion and Lessons Learnt</a:t>
            </a:r>
            <a:endParaRPr lang="en-IN" sz="2800" b="1" dirty="0">
              <a:latin typeface="Arial" panose="020B0604020202020204" pitchFamily="34" charset="0"/>
            </a:endParaRPr>
          </a:p>
        </p:txBody>
      </p:sp>
      <p:pic>
        <p:nvPicPr>
          <p:cNvPr id="5" name="Picture 4">
            <a:extLst>
              <a:ext uri="{FF2B5EF4-FFF2-40B4-BE49-F238E27FC236}">
                <a16:creationId xmlns:a16="http://schemas.microsoft.com/office/drawing/2014/main" id="{972821B6-FB2A-7CD9-1C79-A72D5C5E71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2888" y="20229"/>
            <a:ext cx="976685" cy="888491"/>
          </a:xfrm>
          <a:prstGeom prst="rect">
            <a:avLst/>
          </a:prstGeom>
        </p:spPr>
      </p:pic>
      <p:sp>
        <p:nvSpPr>
          <p:cNvPr id="2" name="Content Placeholder 1">
            <a:extLst>
              <a:ext uri="{FF2B5EF4-FFF2-40B4-BE49-F238E27FC236}">
                <a16:creationId xmlns:a16="http://schemas.microsoft.com/office/drawing/2014/main" id="{56E6E4B2-B765-46BF-901A-9DF44AC2791F}"/>
              </a:ext>
            </a:extLst>
          </p:cNvPr>
          <p:cNvSpPr>
            <a:spLocks noGrp="1" noChangeArrowheads="1"/>
          </p:cNvSpPr>
          <p:nvPr>
            <p:ph idx="1"/>
          </p:nvPr>
        </p:nvSpPr>
        <p:spPr bwMode="auto">
          <a:xfrm>
            <a:off x="563570" y="1743071"/>
            <a:ext cx="796887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Developed a secure Time Sheet Management System using microservices
Implemented role-based workflows for four different user roles
Connected React, API Gateway, Spring Boot services and MySQL
Practised JWT security, Gemini integration, Postman testing and debugging
Learnt layered architecture, module boundaries and team Git workflow</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450</TotalTime>
  <Words>627</Words>
  <Application>Microsoft Office PowerPoint</Application>
  <PresentationFormat>On-screen Show (4:3)</PresentationFormat>
  <Paragraphs>46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Time Sheet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Juned Shikalgar</cp:lastModifiedBy>
  <cp:revision>58</cp:revision>
  <dcterms:created xsi:type="dcterms:W3CDTF">2024-02-21T08:06:21Z</dcterms:created>
  <dcterms:modified xsi:type="dcterms:W3CDTF">2026-08-08T02:32:00Z</dcterms:modified>
</cp:coreProperties>
</file>